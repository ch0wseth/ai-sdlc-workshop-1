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8957E5"/>
          </a:solidFill>
          <a:ln w="12700">
            <a:solidFill>
              <a:srgbClr val="8957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731520" cy="731520"/>
          </a:xfrm>
          <a:prstGeom prst="ellipse">
            <a:avLst/>
          </a:prstGeom>
          <a:solidFill>
            <a:srgbClr val="8957E5"/>
          </a:solidFill>
          <a:ln w="12700">
            <a:solidFill>
              <a:srgbClr val="8957E5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822960"/>
            <a:ext cx="365760" cy="365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31520" y="1554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Agentic SDLC with GitHub Copilot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731520" y="23774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Kick-off: scope of the two afternoons and what must be ready before D-Day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731520" y="3200400"/>
            <a:ext cx="3657600" cy="914400"/>
          </a:xfrm>
          <a:prstGeom prst="rect">
            <a:avLst/>
          </a:prstGeom>
          <a:solidFill>
            <a:srgbClr val="161B22"/>
          </a:solidFill>
          <a:ln w="19050">
            <a:solidFill>
              <a:srgbClr val="8957E5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3200400"/>
            <a:ext cx="109728" cy="914400"/>
          </a:xfrm>
          <a:prstGeom prst="rect">
            <a:avLst/>
          </a:prstGeom>
          <a:solidFill>
            <a:srgbClr val="8957E5"/>
          </a:solidFill>
          <a:ln w="12700">
            <a:solidFill>
              <a:srgbClr val="8957E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05840" y="3291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957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AFTERNOON 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005840" y="35844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GitHub Copilot Zero to Hero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663440" y="3200400"/>
            <a:ext cx="3657600" cy="914400"/>
          </a:xfrm>
          <a:prstGeom prst="rect">
            <a:avLst/>
          </a:prstGeom>
          <a:solidFill>
            <a:srgbClr val="161B22"/>
          </a:solidFill>
          <a:ln w="19050">
            <a:solidFill>
              <a:srgbClr val="2DA44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663440" y="3200400"/>
            <a:ext cx="109728" cy="914400"/>
          </a:xfrm>
          <a:prstGeom prst="rect">
            <a:avLst/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937760" y="3291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DA4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AFTERNOON 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37760" y="35844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SDLC with GitHub and GitHub Copilot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731520" y="4343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github.com/Justrebl/AI-SDLC-Workshop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3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we will practise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51560"/>
            <a:ext cx="73152" cy="1691640"/>
          </a:xfrm>
          <a:prstGeom prst="rect">
            <a:avLst/>
          </a:prstGeom>
          <a:solidFill>
            <a:srgbClr val="8957E5"/>
          </a:solidFill>
          <a:ln w="12700">
            <a:solidFill>
              <a:srgbClr val="8957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234440"/>
            <a:ext cx="457200" cy="457200"/>
          </a:xfrm>
          <a:prstGeom prst="ellipse">
            <a:avLst/>
          </a:prstGeom>
          <a:solidFill>
            <a:srgbClr val="8957E5"/>
          </a:solidFill>
          <a:ln w="12700">
            <a:solidFill>
              <a:srgbClr val="8957E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1348740"/>
            <a:ext cx="228600" cy="228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194560" y="129844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85800" y="17830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Copilot primitives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210312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Instructions, prompt files, custom agents, Agent Skills, MCP servers and hooks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268980" y="105156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268980" y="1051560"/>
            <a:ext cx="73152" cy="1691640"/>
          </a:xfrm>
          <a:prstGeom prst="rect">
            <a:avLst/>
          </a:prstGeom>
          <a:solidFill>
            <a:srgbClr val="8957E5"/>
          </a:solidFill>
          <a:ln w="12700">
            <a:solidFill>
              <a:srgbClr val="8957E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497580" y="1234440"/>
            <a:ext cx="457200" cy="457200"/>
          </a:xfrm>
          <a:prstGeom prst="ellipse">
            <a:avLst/>
          </a:prstGeom>
          <a:solidFill>
            <a:srgbClr val="8957E5"/>
          </a:solidFill>
          <a:ln w="12700">
            <a:solidFill>
              <a:srgbClr val="8957E5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1880" y="1348740"/>
            <a:ext cx="228600" cy="2286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006340" y="129844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 · A2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3497580" y="17830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Plugins &amp; marketplaces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3497580" y="210312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primitives into one installable unit, discovered from a Git marketplace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6080760" y="105156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080760" y="1051560"/>
            <a:ext cx="73152" cy="1691640"/>
          </a:xfrm>
          <a:prstGeom prst="rect">
            <a:avLst/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309360" y="1234440"/>
            <a:ext cx="457200" cy="457200"/>
          </a:xfrm>
          <a:prstGeom prst="ellipse">
            <a:avLst/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3660" y="1348740"/>
            <a:ext cx="228600" cy="2286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7818120" y="129844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6309360" y="17830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HVE-Core</a:t>
            </a:r>
            <a:endParaRPr lang="en-US" sz="1500" dirty="0"/>
          </a:p>
        </p:txBody>
      </p:sp>
      <p:sp>
        <p:nvSpPr>
          <p:cNvPr id="23" name="Text 18"/>
          <p:cNvSpPr/>
          <p:nvPr/>
        </p:nvSpPr>
        <p:spPr>
          <a:xfrm>
            <a:off x="6309360" y="210312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agents and skills: Design Thinking coach and the RPI workflow</a:t>
            </a:r>
            <a:endParaRPr lang="en-US" sz="1150" dirty="0"/>
          </a:p>
        </p:txBody>
      </p:sp>
      <p:sp>
        <p:nvSpPr>
          <p:cNvPr id="24" name="Shape 19"/>
          <p:cNvSpPr/>
          <p:nvPr/>
        </p:nvSpPr>
        <p:spPr>
          <a:xfrm>
            <a:off x="457200" y="297180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457200" y="2971800"/>
            <a:ext cx="73152" cy="1691640"/>
          </a:xfrm>
          <a:prstGeom prst="rect">
            <a:avLst/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685800" y="3154680"/>
            <a:ext cx="457200" cy="457200"/>
          </a:xfrm>
          <a:prstGeom prst="ellipse">
            <a:avLst/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" y="3268980"/>
            <a:ext cx="228600" cy="22860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2194560" y="321868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685800" y="370332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APM</a:t>
            </a:r>
            <a:endParaRPr lang="en-US" sz="1500" dirty="0"/>
          </a:p>
        </p:txBody>
      </p:sp>
      <p:sp>
        <p:nvSpPr>
          <p:cNvPr id="30" name="Text 24"/>
          <p:cNvSpPr/>
          <p:nvPr/>
        </p:nvSpPr>
        <p:spPr>
          <a:xfrm>
            <a:off x="685800" y="402336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primitives as versioned, locked, policy-checked repository dependencies</a:t>
            </a:r>
            <a:endParaRPr lang="en-US" sz="1150" dirty="0"/>
          </a:p>
        </p:txBody>
      </p:sp>
      <p:sp>
        <p:nvSpPr>
          <p:cNvPr id="31" name="Shape 25"/>
          <p:cNvSpPr/>
          <p:nvPr/>
        </p:nvSpPr>
        <p:spPr>
          <a:xfrm>
            <a:off x="3268980" y="297180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3268980" y="2971800"/>
            <a:ext cx="73152" cy="1691640"/>
          </a:xfrm>
          <a:prstGeom prst="rect">
            <a:avLst/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3497580" y="3154680"/>
            <a:ext cx="457200" cy="457200"/>
          </a:xfrm>
          <a:prstGeom prst="ellipse">
            <a:avLst/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1880" y="3268980"/>
            <a:ext cx="228600" cy="228600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5006340" y="321868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</a:t>
            </a:r>
            <a:endParaRPr lang="en-US" sz="1000" dirty="0"/>
          </a:p>
        </p:txBody>
      </p:sp>
      <p:sp>
        <p:nvSpPr>
          <p:cNvPr id="36" name="Text 29"/>
          <p:cNvSpPr/>
          <p:nvPr/>
        </p:nvSpPr>
        <p:spPr>
          <a:xfrm>
            <a:off x="3497580" y="370332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Agentic workflows</a:t>
            </a:r>
            <a:endParaRPr lang="en-US" sz="1500" dirty="0"/>
          </a:p>
        </p:txBody>
      </p:sp>
      <p:sp>
        <p:nvSpPr>
          <p:cNvPr id="37" name="Text 30"/>
          <p:cNvSpPr/>
          <p:nvPr/>
        </p:nvSpPr>
        <p:spPr>
          <a:xfrm>
            <a:off x="3497580" y="402336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gh-aw: Markdown workflows compiled to GitHub Actions, with safe outputs</a:t>
            </a:r>
            <a:endParaRPr lang="en-US" sz="1150" dirty="0"/>
          </a:p>
        </p:txBody>
      </p:sp>
      <p:sp>
        <p:nvSpPr>
          <p:cNvPr id="38" name="Shape 31"/>
          <p:cNvSpPr/>
          <p:nvPr/>
        </p:nvSpPr>
        <p:spPr>
          <a:xfrm>
            <a:off x="6080760" y="297180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39" name="Shape 32"/>
          <p:cNvSpPr/>
          <p:nvPr/>
        </p:nvSpPr>
        <p:spPr>
          <a:xfrm>
            <a:off x="6080760" y="2971800"/>
            <a:ext cx="73152" cy="1691640"/>
          </a:xfrm>
          <a:prstGeom prst="rect">
            <a:avLst/>
          </a:prstGeom>
          <a:solidFill>
            <a:srgbClr val="8957E5"/>
          </a:solidFill>
          <a:ln w="12700">
            <a:solidFill>
              <a:srgbClr val="8957E5"/>
            </a:solidFill>
            <a:prstDash val="solid"/>
          </a:ln>
        </p:spPr>
      </p:sp>
      <p:sp>
        <p:nvSpPr>
          <p:cNvPr id="40" name="Shape 33"/>
          <p:cNvSpPr/>
          <p:nvPr/>
        </p:nvSpPr>
        <p:spPr>
          <a:xfrm>
            <a:off x="6309360" y="3154680"/>
            <a:ext cx="457200" cy="457200"/>
          </a:xfrm>
          <a:prstGeom prst="ellipse">
            <a:avLst/>
          </a:prstGeom>
          <a:solidFill>
            <a:srgbClr val="8957E5"/>
          </a:solidFill>
          <a:ln w="12700">
            <a:solidFill>
              <a:srgbClr val="8957E5"/>
            </a:solidFill>
            <a:prstDash val="solid"/>
          </a:ln>
        </p:spPr>
      </p:sp>
      <p:pic>
        <p:nvPicPr>
          <p:cNvPr id="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3660" y="3268980"/>
            <a:ext cx="228600" cy="228600"/>
          </a:xfrm>
          <a:prstGeom prst="rect">
            <a:avLst/>
          </a:prstGeom>
        </p:spPr>
      </p:pic>
      <p:sp>
        <p:nvSpPr>
          <p:cNvPr id="42" name="Text 34"/>
          <p:cNvSpPr/>
          <p:nvPr/>
        </p:nvSpPr>
        <p:spPr>
          <a:xfrm>
            <a:off x="7818120" y="321868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 · A2</a:t>
            </a:r>
            <a:endParaRPr lang="en-US" sz="1000" dirty="0"/>
          </a:p>
        </p:txBody>
      </p:sp>
      <p:sp>
        <p:nvSpPr>
          <p:cNvPr id="43" name="Text 35"/>
          <p:cNvSpPr/>
          <p:nvPr/>
        </p:nvSpPr>
        <p:spPr>
          <a:xfrm>
            <a:off x="6309360" y="370332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Copilot cloud agent</a:t>
            </a:r>
            <a:endParaRPr lang="en-US" sz="1500" dirty="0"/>
          </a:p>
        </p:txBody>
      </p:sp>
      <p:sp>
        <p:nvSpPr>
          <p:cNvPr id="44" name="Text 36"/>
          <p:cNvSpPr/>
          <p:nvPr/>
        </p:nvSpPr>
        <p:spPr>
          <a:xfrm>
            <a:off x="6309360" y="402336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an issue to Copilot; review the pull request it opens</a:t>
            </a:r>
            <a:endParaRPr lang="en-US" sz="1150" dirty="0"/>
          </a:p>
        </p:txBody>
      </p:sp>
      <p:sp>
        <p:nvSpPr>
          <p:cNvPr id="45" name="Text 37"/>
          <p:cNvSpPr/>
          <p:nvPr/>
        </p:nvSpPr>
        <p:spPr>
          <a:xfrm>
            <a:off x="457200" y="46817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SDLC with GitHub Copilot · Kick-off  |  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108960" cy="5143500"/>
          </a:xfrm>
          <a:prstGeom prst="rect">
            <a:avLst/>
          </a:prstGeom>
          <a:solidFill>
            <a:srgbClr val="8957E5"/>
          </a:solidFill>
          <a:ln w="12700">
            <a:solidFill>
              <a:srgbClr val="8957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57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DE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AFTERNOON 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GitHub Copilot Zero to Hero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2103120"/>
            <a:ext cx="23774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Fluency with Copilot primitives in VS Code, Copilot CLI and on github.com</a:t>
            </a:r>
            <a:endParaRPr lang="en-US" sz="1250" dirty="0"/>
          </a:p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fork of Philess/gh-copilot-demo (.NET 8 API + Vue viewer)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474720" y="530352"/>
            <a:ext cx="457200" cy="457200"/>
          </a:xfrm>
          <a:prstGeom prst="ellipse">
            <a:avLst/>
          </a:prstGeom>
          <a:solidFill>
            <a:srgbClr val="E9DEFC"/>
          </a:solidFill>
          <a:ln w="12700">
            <a:solidFill>
              <a:srgbClr val="8957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0" y="5303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957E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069080" y="484632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3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 completion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069080" y="7772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 and next edit suggestions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74720" y="1335024"/>
            <a:ext cx="457200" cy="457200"/>
          </a:xfrm>
          <a:prstGeom prst="ellipse">
            <a:avLst/>
          </a:prstGeom>
          <a:solidFill>
            <a:srgbClr val="E9DEFC"/>
          </a:solidFill>
          <a:ln w="12700">
            <a:solidFill>
              <a:srgbClr val="8957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0" y="13350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957E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069080" y="1289304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3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Copilot Chat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069080" y="158191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Ask, explain, fix, generate tests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474720" y="2139696"/>
            <a:ext cx="457200" cy="457200"/>
          </a:xfrm>
          <a:prstGeom prst="ellipse">
            <a:avLst/>
          </a:prstGeom>
          <a:solidFill>
            <a:srgbClr val="E9DEFC"/>
          </a:solidFill>
          <a:ln w="12700">
            <a:solidFill>
              <a:srgbClr val="8957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0" y="21396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957E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069080" y="2093976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3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 basics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069080" y="238658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Multi-file edits and commands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474720" y="2944368"/>
            <a:ext cx="457200" cy="457200"/>
          </a:xfrm>
          <a:prstGeom prst="ellipse">
            <a:avLst/>
          </a:prstGeom>
          <a:solidFill>
            <a:srgbClr val="E9DEFC"/>
          </a:solidFill>
          <a:ln w="12700">
            <a:solidFill>
              <a:srgbClr val="8957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74720" y="29443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957E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069080" y="2898648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3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 and implement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069080" y="3191256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 change, then build it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474720" y="3749040"/>
            <a:ext cx="457200" cy="457200"/>
          </a:xfrm>
          <a:prstGeom prst="ellipse">
            <a:avLst/>
          </a:prstGeom>
          <a:solidFill>
            <a:srgbClr val="E9DEFC"/>
          </a:solidFill>
          <a:ln w="12700">
            <a:solidFill>
              <a:srgbClr val="8957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7472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957E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069080" y="3703320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3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Advanced concepts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4069080" y="399592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Instructions, prompts, agents, MCP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0" y="530352"/>
            <a:ext cx="457200" cy="457200"/>
          </a:xfrm>
          <a:prstGeom prst="ellipse">
            <a:avLst/>
          </a:prstGeom>
          <a:solidFill>
            <a:srgbClr val="E9DEFC"/>
          </a:solidFill>
          <a:ln w="12700">
            <a:solidFill>
              <a:srgbClr val="8957E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0" y="5303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957E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995160" y="484632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3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Agents on the platform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6995160" y="7772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cloud agent on an issue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0" y="1335024"/>
            <a:ext cx="457200" cy="457200"/>
          </a:xfrm>
          <a:prstGeom prst="ellipse">
            <a:avLst/>
          </a:prstGeom>
          <a:solidFill>
            <a:srgbClr val="E9DEFC"/>
          </a:solidFill>
          <a:ln w="12700">
            <a:solidFill>
              <a:srgbClr val="8957E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0" y="13350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957E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995160" y="1289304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3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 Skills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6995160" y="158191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and use a skill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400800" y="2139696"/>
            <a:ext cx="457200" cy="457200"/>
          </a:xfrm>
          <a:prstGeom prst="ellipse">
            <a:avLst/>
          </a:prstGeom>
          <a:solidFill>
            <a:srgbClr val="E9DEFC"/>
          </a:solidFill>
          <a:ln w="12700">
            <a:solidFill>
              <a:srgbClr val="8957E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0" y="21396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957E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6995160" y="2093976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3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Copilot CLI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6995160" y="238658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repo from the terminal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400800" y="2944368"/>
            <a:ext cx="457200" cy="457200"/>
          </a:xfrm>
          <a:prstGeom prst="ellipse">
            <a:avLst/>
          </a:prstGeom>
          <a:solidFill>
            <a:srgbClr val="E9DEFC"/>
          </a:solidFill>
          <a:ln w="12700">
            <a:solidFill>
              <a:srgbClr val="8957E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0" y="29443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957E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6995160" y="2898648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3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Plugins &amp; marketplaces</a:t>
            </a:r>
            <a:endParaRPr lang="en-US" sz="1350" dirty="0"/>
          </a:p>
        </p:txBody>
      </p:sp>
      <p:sp>
        <p:nvSpPr>
          <p:cNvPr id="41" name="Text 39"/>
          <p:cNvSpPr/>
          <p:nvPr/>
        </p:nvSpPr>
        <p:spPr>
          <a:xfrm>
            <a:off x="6995160" y="3191256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plugins in CLI and VS Code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400800" y="381304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957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→ Levels 1–9 → Recap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457200" y="46817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SDLC with GitHub Copilot · Kick-off  |  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DA4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AFTERNOON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3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SDLC with GitHub and GitHub Copilot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feature in a music catalog app (browse tracks, build an in-memory playlist), with governance and automation added at each level.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45029" y="2240280"/>
            <a:ext cx="7053943" cy="0"/>
          </a:xfrm>
          <a:prstGeom prst="line">
            <a:avLst/>
          </a:prstGeom>
          <a:noFill/>
          <a:ln w="25400">
            <a:solidFill>
              <a:srgbClr val="2DA44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0709" y="1965960"/>
            <a:ext cx="548640" cy="548640"/>
          </a:xfrm>
          <a:prstGeom prst="ellipse">
            <a:avLst/>
          </a:prstGeom>
          <a:solidFill>
            <a:srgbClr val="2DA44E"/>
          </a:solidFill>
          <a:ln w="38100">
            <a:solidFill>
              <a:srgbClr val="F6F8F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0709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84632" y="2651760"/>
            <a:ext cx="112079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Setup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84632" y="3063240"/>
            <a:ext cx="112079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from the template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946366" y="1965960"/>
            <a:ext cx="548640" cy="548640"/>
          </a:xfrm>
          <a:prstGeom prst="ellipse">
            <a:avLst/>
          </a:prstGeom>
          <a:solidFill>
            <a:srgbClr val="2DA44E"/>
          </a:solidFill>
          <a:ln w="38100">
            <a:solidFill>
              <a:srgbClr val="F6F8F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946366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660289" y="2651760"/>
            <a:ext cx="112079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HVE-Core plugin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660289" y="3063240"/>
            <a:ext cx="112079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into Copilot CLI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122023" y="1965960"/>
            <a:ext cx="548640" cy="548640"/>
          </a:xfrm>
          <a:prstGeom prst="ellipse">
            <a:avLst/>
          </a:prstGeom>
          <a:solidFill>
            <a:srgbClr val="2DA44E"/>
          </a:solidFill>
          <a:ln w="38100">
            <a:solidFill>
              <a:srgbClr val="F6F8F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122023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835946" y="2651760"/>
            <a:ext cx="112079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 Thinking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835946" y="3063240"/>
            <a:ext cx="112079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the problem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297680" y="1965960"/>
            <a:ext cx="548640" cy="548640"/>
          </a:xfrm>
          <a:prstGeom prst="ellipse">
            <a:avLst/>
          </a:prstGeom>
          <a:solidFill>
            <a:srgbClr val="2DA44E"/>
          </a:solidFill>
          <a:ln w="38100">
            <a:solidFill>
              <a:srgbClr val="F6F8F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297680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011603" y="2651760"/>
            <a:ext cx="112079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RPI loop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011603" y="3063240"/>
            <a:ext cx="112079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Research, Plan, Implement, Review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73337" y="1965960"/>
            <a:ext cx="548640" cy="548640"/>
          </a:xfrm>
          <a:prstGeom prst="ellipse">
            <a:avLst/>
          </a:prstGeom>
          <a:solidFill>
            <a:srgbClr val="2DA44E"/>
          </a:solidFill>
          <a:ln w="38100">
            <a:solidFill>
              <a:srgbClr val="F6F8F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73337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187261" y="2651760"/>
            <a:ext cx="112079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APM &amp; policy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187261" y="3063240"/>
            <a:ext cx="112079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Versioned, locked, audited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648994" y="1965960"/>
            <a:ext cx="548640" cy="548640"/>
          </a:xfrm>
          <a:prstGeom prst="ellipse">
            <a:avLst/>
          </a:prstGeom>
          <a:solidFill>
            <a:srgbClr val="2DA44E"/>
          </a:solidFill>
          <a:ln w="38100">
            <a:solidFill>
              <a:srgbClr val="F6F8F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48994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362918" y="2651760"/>
            <a:ext cx="112079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Agentic workflow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362918" y="3063240"/>
            <a:ext cx="112079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backlog triage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824651" y="1965960"/>
            <a:ext cx="548640" cy="548640"/>
          </a:xfrm>
          <a:prstGeom prst="ellipse">
            <a:avLst/>
          </a:prstGeom>
          <a:solidFill>
            <a:srgbClr val="2DA44E"/>
          </a:solidFill>
          <a:ln w="38100">
            <a:solidFill>
              <a:srgbClr val="F6F8F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824651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538575" y="2651760"/>
            <a:ext cx="112079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3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 agent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538575" y="3063240"/>
            <a:ext cx="112079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Delegate an issue, review the PR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57200" y="3794760"/>
            <a:ext cx="8229600" cy="822960"/>
          </a:xfrm>
          <a:prstGeom prst="rect">
            <a:avLst/>
          </a:prstGeom>
          <a:solidFill>
            <a:srgbClr val="DAFBE1"/>
          </a:solidFill>
          <a:ln w="12700">
            <a:solidFill>
              <a:srgbClr val="DAFBE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" y="3794760"/>
            <a:ext cx="73152" cy="822960"/>
          </a:xfrm>
          <a:prstGeom prst="rect">
            <a:avLst/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" y="384048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7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crescendo  </a:t>
            </a:r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primitives → plugins → versioned APM packages → policy-controlled supply chain → structured RPI → automated backlog → controlled delegation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57200" y="46817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SDLC with GitHub Copilot · Kick-off  |  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3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Pick one delivery option per attendee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2606040" cy="73152"/>
          </a:xfrm>
          <a:prstGeom prst="rect">
            <a:avLst/>
          </a:prstGeom>
          <a:solidFill>
            <a:srgbClr val="8957E5"/>
          </a:solidFill>
          <a:ln w="12700">
            <a:solidFill>
              <a:srgbClr val="8957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371600"/>
            <a:ext cx="548640" cy="548640"/>
          </a:xfrm>
          <a:prstGeom prst="ellipse">
            <a:avLst/>
          </a:prstGeom>
          <a:solidFill>
            <a:srgbClr val="8957E5"/>
          </a:solidFill>
          <a:ln w="12700">
            <a:solidFill>
              <a:srgbClr val="8957E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508760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48132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957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85800" y="20574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3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GitHub Codespaces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85800" y="246888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install: a preconfigured cloud environment with a prebuilt image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85800" y="329184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when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and organization allow Codespaces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40233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957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docs/before-d-day-codespace.md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3268980" y="1097280"/>
            <a:ext cx="260604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68980" y="1097280"/>
            <a:ext cx="2606040" cy="73152"/>
          </a:xfrm>
          <a:prstGeom prst="rect">
            <a:avLst/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497580" y="1371600"/>
            <a:ext cx="548640" cy="548640"/>
          </a:xfrm>
          <a:prstGeom prst="ellipse">
            <a:avLst/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4740" y="1508760"/>
            <a:ext cx="274320" cy="2743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183380" y="148132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2DA4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3497580" y="20574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3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Local dev container</a:t>
            </a:r>
            <a:endParaRPr lang="en-US" sz="1600" dirty="0"/>
          </a:p>
        </p:txBody>
      </p:sp>
      <p:sp>
        <p:nvSpPr>
          <p:cNvPr id="18" name="Text 14"/>
          <p:cNvSpPr/>
          <p:nvPr/>
        </p:nvSpPr>
        <p:spPr>
          <a:xfrm>
            <a:off x="3497580" y="246888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environment in Docker or Podman on your own machine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3497580" y="329184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when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Codespaces blocked, containers allowed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3451860" y="40233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DA4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docs/before-d-day-devcontainer.md</a:t>
            </a:r>
            <a:endParaRPr lang="en-US" sz="850" dirty="0"/>
          </a:p>
        </p:txBody>
      </p:sp>
      <p:sp>
        <p:nvSpPr>
          <p:cNvPr id="21" name="Shape 17"/>
          <p:cNvSpPr/>
          <p:nvPr/>
        </p:nvSpPr>
        <p:spPr>
          <a:xfrm>
            <a:off x="6080760" y="1097280"/>
            <a:ext cx="260604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080760" y="1097280"/>
            <a:ext cx="2606040" cy="73152"/>
          </a:xfrm>
          <a:prstGeom prst="rect">
            <a:avLst/>
          </a:prstGeom>
          <a:solidFill>
            <a:srgbClr val="59636E"/>
          </a:solidFill>
          <a:ln w="12700">
            <a:solidFill>
              <a:srgbClr val="59636E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309360" y="1371600"/>
            <a:ext cx="548640" cy="548640"/>
          </a:xfrm>
          <a:prstGeom prst="ellipse">
            <a:avLst/>
          </a:prstGeom>
          <a:solidFill>
            <a:srgbClr val="59636E"/>
          </a:solidFill>
          <a:ln w="12700">
            <a:solidFill>
              <a:srgbClr val="59636E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508760"/>
            <a:ext cx="274320" cy="27432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6995160" y="148132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RESORT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6309360" y="20574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3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Local tools</a:t>
            </a:r>
            <a:endParaRPr lang="en-US" sz="1600" dirty="0"/>
          </a:p>
        </p:txBody>
      </p:sp>
      <p:sp>
        <p:nvSpPr>
          <p:cNvPr id="27" name="Text 22"/>
          <p:cNvSpPr/>
          <p:nvPr/>
        </p:nvSpPr>
        <p:spPr>
          <a:xfrm>
            <a:off x="6309360" y="246888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Git, Node.js 22, .NET 8 and 10, GitHub CLI, Copilot CLI, APM and gh-aw</a:t>
            </a:r>
            <a:endParaRPr lang="en-US" sz="1150" dirty="0"/>
          </a:p>
        </p:txBody>
      </p:sp>
      <p:sp>
        <p:nvSpPr>
          <p:cNvPr id="28" name="Text 23"/>
          <p:cNvSpPr/>
          <p:nvPr/>
        </p:nvSpPr>
        <p:spPr>
          <a:xfrm>
            <a:off x="6309360" y="329184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when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Containers not allowed</a:t>
            </a:r>
            <a:endParaRPr lang="en-US" sz="1100" dirty="0"/>
          </a:p>
        </p:txBody>
      </p:sp>
      <p:sp>
        <p:nvSpPr>
          <p:cNvPr id="29" name="Text 24"/>
          <p:cNvSpPr/>
          <p:nvPr/>
        </p:nvSpPr>
        <p:spPr>
          <a:xfrm>
            <a:off x="6263640" y="402336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963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docs/before-d-day-local.md</a:t>
            </a:r>
            <a:endParaRPr lang="en-US" sz="850" dirty="0"/>
          </a:p>
        </p:txBody>
      </p:sp>
      <p:sp>
        <p:nvSpPr>
          <p:cNvPr id="30" name="Text 25"/>
          <p:cNvSpPr/>
          <p:nvPr/>
        </p:nvSpPr>
        <p:spPr>
          <a:xfrm>
            <a:off x="457200" y="46817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SDLC with GitHub Copilot · Kick-off  |  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3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Codespaces route: what must be true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397764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14400"/>
            <a:ext cx="73152" cy="1463040"/>
          </a:xfrm>
          <a:prstGeom prst="rect">
            <a:avLst/>
          </a:prstGeom>
          <a:solidFill>
            <a:srgbClr val="8957E5"/>
          </a:solidFill>
          <a:ln w="12700">
            <a:solidFill>
              <a:srgbClr val="8957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051560"/>
            <a:ext cx="384048" cy="384048"/>
          </a:xfrm>
          <a:prstGeom prst="ellipse">
            <a:avLst/>
          </a:prstGeom>
          <a:solidFill>
            <a:srgbClr val="8957E5"/>
          </a:solidFill>
          <a:ln w="12700">
            <a:solidFill>
              <a:srgbClr val="8957E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147572"/>
            <a:ext cx="192024" cy="1920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43000" y="1051560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3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Organization &amp; enterprise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658368" y="1508760"/>
            <a:ext cx="3657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Codespaces enabled for attendees' repositories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organization IP allow list: it disables codespace creation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2–4 core machines, idle timeout and retention set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Forks, template repos and ghcr.io pulls allowed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709160" y="914400"/>
            <a:ext cx="397764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709160" y="914400"/>
            <a:ext cx="73152" cy="1463040"/>
          </a:xfrm>
          <a:prstGeom prst="rect">
            <a:avLst/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910328" y="1051560"/>
            <a:ext cx="384048" cy="384048"/>
          </a:xfrm>
          <a:prstGeom prst="ellipse">
            <a:avLst/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1147572"/>
            <a:ext cx="192024" cy="19202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94960" y="1051560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3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Billing &amp; budgets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4910328" y="1508760"/>
            <a:ext cx="3657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owner chosen: organization or user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Codespaces spending limit above zero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Copilot, Actions, Codespaces: separate usage units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Prices: see official GitHub billing docs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457200" y="2606040"/>
            <a:ext cx="397764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57200" y="2606040"/>
            <a:ext cx="73152" cy="1463040"/>
          </a:xfrm>
          <a:prstGeom prst="rect">
            <a:avLst/>
          </a:prstGeom>
          <a:solidFill>
            <a:srgbClr val="B07D12"/>
          </a:solidFill>
          <a:ln w="12700">
            <a:solidFill>
              <a:srgbClr val="B07D12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58368" y="2743200"/>
            <a:ext cx="384048" cy="384048"/>
          </a:xfrm>
          <a:prstGeom prst="ellipse">
            <a:avLst/>
          </a:prstGeom>
          <a:solidFill>
            <a:srgbClr val="B07D12"/>
          </a:solidFill>
          <a:ln w="12700">
            <a:solidFill>
              <a:srgbClr val="B07D12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2839212"/>
            <a:ext cx="192024" cy="19202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143000" y="2743200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3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Network: attendee workstation only</a:t>
            </a:r>
            <a:endParaRPr lang="en-US" sz="1350" dirty="0"/>
          </a:p>
        </p:txBody>
      </p:sp>
      <p:sp>
        <p:nvSpPr>
          <p:cNvPr id="20" name="Text 15"/>
          <p:cNvSpPr/>
          <p:nvPr/>
        </p:nvSpPr>
        <p:spPr>
          <a:xfrm>
            <a:off x="658368" y="3200400"/>
            <a:ext cx="3657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gh api meta --jq '.domains.codespaces'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.domains.website + .domains.copilot (Copilot)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WebSockets on, no TLS inspection on *.github.dev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Codespace outbound is open: no extra rules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4709160" y="2606040"/>
            <a:ext cx="397764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7DE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4709160" y="2606040"/>
            <a:ext cx="73152" cy="1463040"/>
          </a:xfrm>
          <a:prstGeom prst="rect">
            <a:avLst/>
          </a:prstGeom>
          <a:solidFill>
            <a:srgbClr val="0969DA"/>
          </a:solidFill>
          <a:ln w="12700">
            <a:solidFill>
              <a:srgbClr val="0969DA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4910328" y="2743200"/>
            <a:ext cx="384048" cy="384048"/>
          </a:xfrm>
          <a:prstGeom prst="ellipse">
            <a:avLst/>
          </a:prstGeom>
          <a:solidFill>
            <a:srgbClr val="0969DA"/>
          </a:solidFill>
          <a:ln w="12700">
            <a:solidFill>
              <a:srgbClr val="0969DA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2839212"/>
            <a:ext cx="192024" cy="192024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5394960" y="2743200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3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Attendee dry run (D-7, D-1)</a:t>
            </a:r>
            <a:endParaRPr lang="en-US" sz="1350" dirty="0"/>
          </a:p>
        </p:txBody>
      </p:sp>
      <p:sp>
        <p:nvSpPr>
          <p:cNvPr id="26" name="Text 20"/>
          <p:cNvSpPr/>
          <p:nvPr/>
        </p:nvSpPr>
        <p:spPr>
          <a:xfrm>
            <a:off x="4910328" y="3200400"/>
            <a:ext cx="3657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 visible at github.com/settings/copilot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Codespace opens in the browser and in VS Code desktop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Tunnel reachable: global.rel.tunnels.api.visualstudio.com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D-1: gh auth refresh --scopes workflow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457200" y="4270248"/>
            <a:ext cx="8229600" cy="329184"/>
          </a:xfrm>
          <a:prstGeom prst="rect">
            <a:avLst/>
          </a:prstGeom>
          <a:solidFill>
            <a:srgbClr val="E9DEFC"/>
          </a:solidFill>
          <a:ln w="12700">
            <a:solidFill>
              <a:srgbClr val="E9DEFC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594360" y="4270248"/>
            <a:ext cx="8001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957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Blocked?  </a:t>
            </a:r>
            <a:pPr indent="0" marL="0">
              <a:buNone/>
            </a:pPr>
            <a:r>
              <a:rPr lang="en-US" sz="115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allow list or rules that cannot change → switch to the local dev container (docs/before-d-day-devcontainer.md)</a:t>
            </a:r>
            <a:endParaRPr lang="en-US" sz="1150" dirty="0"/>
          </a:p>
        </p:txBody>
      </p:sp>
      <p:sp>
        <p:nvSpPr>
          <p:cNvPr id="29" name="Text 23"/>
          <p:cNvSpPr/>
          <p:nvPr/>
        </p:nvSpPr>
        <p:spPr>
          <a:xfrm>
            <a:off x="457200" y="46817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SDLC with GitHub Copilot · Kick-off  |  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Before D-Day: who does what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2606040" cy="297180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51560"/>
            <a:ext cx="73152" cy="2971800"/>
          </a:xfrm>
          <a:prstGeom prst="rect">
            <a:avLst/>
          </a:prstGeom>
          <a:solidFill>
            <a:srgbClr val="8957E5"/>
          </a:solidFill>
          <a:ln w="12700">
            <a:solidFill>
              <a:srgbClr val="8957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234440"/>
            <a:ext cx="457200" cy="457200"/>
          </a:xfrm>
          <a:prstGeom prst="ellipse">
            <a:avLst/>
          </a:prstGeom>
          <a:solidFill>
            <a:srgbClr val="8957E5"/>
          </a:solidFill>
          <a:ln w="12700">
            <a:solidFill>
              <a:srgbClr val="8957E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1348740"/>
            <a:ext cx="228600" cy="228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34440" y="12344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attendee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40080" y="1828800"/>
            <a:ext cx="22860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Business or Enterprise seat active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+ Copilot Chat signed in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option tested end to end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 fork runs (API port 3000, viewer port 3001)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checks pass on the day's network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68980" y="1051560"/>
            <a:ext cx="2606040" cy="297180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268980" y="1051560"/>
            <a:ext cx="73152" cy="2971800"/>
          </a:xfrm>
          <a:prstGeom prst="rect">
            <a:avLst/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497580" y="1234440"/>
            <a:ext cx="457200" cy="457200"/>
          </a:xfrm>
          <a:prstGeom prst="ellipse">
            <a:avLst/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1880" y="1348740"/>
            <a:ext cx="228600" cy="2286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046220" y="12344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Org / enterprise owners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3451860" y="1828800"/>
            <a:ext cx="22860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Seats assigned; CLI, cloud agent, MCP, models, previews, plugins allowed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Codespaces enabled with a spending limit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org IP allow list (it disables Codespaces)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on; template and fork creation allowed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080760" y="1051560"/>
            <a:ext cx="2606040" cy="297180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080760" y="1051560"/>
            <a:ext cx="73152" cy="2971800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309360" y="1234440"/>
            <a:ext cx="457200" cy="457200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3660" y="1348740"/>
            <a:ext cx="228600" cy="22860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858000" y="12344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Network team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263640" y="1828800"/>
            <a:ext cx="22860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Codespaces domains from the GitHub meta API (.domains.codespaces)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allowlist reference + github.com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ghcr.io and *.github.dev reachable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TLS-inspection exclusions in place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957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D-7 </a:t>
            </a:r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licences, policies and network rules confirmed     </a:t>
            </a:r>
            <a:pPr indent="0" marL="0">
              <a:buNone/>
            </a:pPr>
            <a:r>
              <a:rPr lang="en-US" sz="1200" b="1" dirty="0">
                <a:solidFill>
                  <a:srgbClr val="2DA4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D-1 </a:t>
            </a:r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opened, both labs' apps run, Copilot answers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457200" y="46817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8B1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SDLC with GitHub Copilot · Kick-off  |  7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SDLC with GitHub Copilot — Kick-off</dc:title>
  <dc:subject>PptxGenJS Presentation</dc:subject>
  <dc:creator>PptxGenJS</dc:creator>
  <cp:lastModifiedBy>PptxGenJS</cp:lastModifiedBy>
  <cp:revision>1</cp:revision>
  <dcterms:created xsi:type="dcterms:W3CDTF">2026-10-01T11:04:29Z</dcterms:created>
  <dcterms:modified xsi:type="dcterms:W3CDTF">2026-10-01T11:04:29Z</dcterms:modified>
</cp:coreProperties>
</file>